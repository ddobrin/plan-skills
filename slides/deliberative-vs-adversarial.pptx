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H="1">
            <a:off x="4069080" y="1188720"/>
            <a:ext cx="548640" cy="822960"/>
          </a:xfrm>
          <a:prstGeom prst="line">
            <a:avLst/>
          </a:prstGeom>
          <a:ln w="22225">
            <a:solidFill>
              <a:srgbClr val="02C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617720" y="1188720"/>
            <a:ext cx="548640" cy="822960"/>
          </a:xfrm>
          <a:prstGeom prst="line">
            <a:avLst/>
          </a:prstGeom>
          <a:ln w="22225">
            <a:solidFill>
              <a:srgbClr val="02C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069080" y="2011680"/>
            <a:ext cx="1097280" cy="0"/>
          </a:xfrm>
          <a:prstGeom prst="line">
            <a:avLst/>
          </a:prstGeom>
          <a:ln w="22225">
            <a:solidFill>
              <a:srgbClr val="02C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416552" y="987552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67912" y="1810512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65192" y="1810512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3317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02C39A"/>
                </a:solidFill>
                <a:latin typeface="Calibri"/>
              </a:rPr>
              <a:t>talk → consensus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4630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1">
                <a:solidFill>
                  <a:srgbClr val="CADCFC"/>
                </a:solidFill>
                <a:latin typeface="Cambria"/>
              </a:rPr>
              <a:t>vs</a:t>
            </a:r>
          </a:p>
        </p:txBody>
      </p:sp>
      <p:sp>
        <p:nvSpPr>
          <p:cNvPr id="10" name="Oval 9"/>
          <p:cNvSpPr/>
          <p:nvPr/>
        </p:nvSpPr>
        <p:spPr>
          <a:xfrm>
            <a:off x="6885432" y="987552"/>
            <a:ext cx="402336" cy="402336"/>
          </a:xfrm>
          <a:prstGeom prst="ellipse">
            <a:avLst/>
          </a:prstGeom>
          <a:solidFill>
            <a:srgbClr val="D6455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2" y="987552"/>
            <a:ext cx="402336" cy="402336"/>
          </a:xfrm>
          <a:prstGeom prst="ellipse">
            <a:avLst/>
          </a:prstGeom>
          <a:solidFill>
            <a:srgbClr val="D6455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48471" y="987552"/>
            <a:ext cx="402336" cy="402336"/>
          </a:xfrm>
          <a:prstGeom prst="ellipse">
            <a:avLst/>
          </a:prstGeom>
          <a:solidFill>
            <a:srgbClr val="D6455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52360" y="1874519"/>
            <a:ext cx="1143000" cy="457200"/>
          </a:xfrm>
          <a:prstGeom prst="roundRect">
            <a:avLst>
              <a:gd name="adj" fmla="val 25000"/>
            </a:avLst>
          </a:prstGeom>
          <a:noFill/>
          <a:ln w="22225">
            <a:solidFill>
              <a:srgbClr val="D64550"/>
            </a:solidFill>
          </a:ln>
          <a:effectLst/>
        </p:spPr>
        <p:txBody>
          <a:bodyPr rtlCol="0" anchor="ctr" wrap="square" lIns="109728" rIns="109728"/>
          <a:lstStyle/>
          <a:p>
            <a:pPr algn="ctr"/>
            <a:r>
              <a:rPr sz="1200" b="1" i="0">
                <a:solidFill>
                  <a:srgbClr val="D64550"/>
                </a:solidFill>
                <a:latin typeface="Calibri"/>
              </a:rPr>
              <a:t>2-of-3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86600" y="1417320"/>
            <a:ext cx="640079" cy="438911"/>
          </a:xfrm>
          <a:prstGeom prst="line">
            <a:avLst/>
          </a:prstGeom>
          <a:ln w="19050">
            <a:solidFill>
              <a:srgbClr val="D645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18120" y="1417320"/>
            <a:ext cx="201168" cy="438911"/>
          </a:xfrm>
          <a:prstGeom prst="line">
            <a:avLst/>
          </a:prstGeom>
          <a:ln w="19050">
            <a:solidFill>
              <a:srgbClr val="D645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321040" y="1417320"/>
            <a:ext cx="228600" cy="438911"/>
          </a:xfrm>
          <a:prstGeom prst="line">
            <a:avLst/>
          </a:prstGeom>
          <a:ln w="19050">
            <a:solidFill>
              <a:srgbClr val="D645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03720" y="24871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64550"/>
                </a:solidFill>
                <a:latin typeface="Calibri"/>
              </a:rPr>
              <a:t>no talk → vote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383280"/>
            <a:ext cx="114574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Cambria"/>
              </a:rPr>
              <a:t>Deliberative Collaboration vs. Adversarial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CADCFC"/>
                </a:solidFill>
                <a:latin typeface="Calibri"/>
              </a:rPr>
              <a:t>Two patterns for making multi-agent LLM systems trustworthy — and why you need both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7220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C9DB5"/>
                </a:solidFill>
                <a:latin typeface="Calibri"/>
              </a:rPr>
              <a:t>Grounded in “LLM Agents for Deliberative Collaboration” (arXiv:2607.06157) and the plan plugin’s deliberator / validator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mbria"/>
              </a:rPr>
              <a:t>The two patterns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5486400" cy="5349240"/>
          </a:xfrm>
          <a:prstGeom prst="roundRect">
            <a:avLst>
              <a:gd name="adj" fmla="val 5000"/>
            </a:avLst>
          </a:prstGeom>
          <a:solidFill>
            <a:srgbClr val="E7F3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Cambria"/>
              </a:rPr>
              <a:t>Deliberative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D6B7A"/>
                </a:solidFill>
                <a:latin typeface="Calibri"/>
              </a:rPr>
              <a:t>build one artifact together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783080" y="2606040"/>
            <a:ext cx="548640" cy="822960"/>
          </a:xfrm>
          <a:prstGeom prst="line">
            <a:avLst/>
          </a:prstGeom>
          <a:ln w="22225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331720" y="2606040"/>
            <a:ext cx="548640" cy="822960"/>
          </a:xfrm>
          <a:prstGeom prst="line">
            <a:avLst/>
          </a:prstGeom>
          <a:ln w="22225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83080" y="3429000"/>
            <a:ext cx="1097280" cy="0"/>
          </a:xfrm>
          <a:prstGeom prst="line">
            <a:avLst/>
          </a:prstGeom>
          <a:ln w="22225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121408" y="2395728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72768" y="3218688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70048" y="3218688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54680" y="3017520"/>
            <a:ext cx="640080" cy="0"/>
          </a:xfrm>
          <a:prstGeom prst="line">
            <a:avLst/>
          </a:prstGeom>
          <a:ln w="22225">
            <a:solidFill>
              <a:srgbClr val="0280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40480" y="2743200"/>
            <a:ext cx="17373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txBody>
          <a:bodyPr rtlCol="0" anchor="ctr" wrap="square" lIns="109728" rIns="109728"/>
          <a:lstStyle/>
          <a:p>
            <a:pPr algn="ctr"/>
            <a:r>
              <a:rPr sz="1100" b="1" i="0">
                <a:solidFill>
                  <a:srgbClr val="028090"/>
                </a:solidFill>
                <a:latin typeface="Calibri"/>
              </a:rPr>
              <a:t>ONE revised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6732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D6B7A"/>
                </a:solidFill>
                <a:latin typeface="Calibri"/>
              </a:rPr>
              <a:t>delegates talk until all accept the same 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51960"/>
            <a:ext cx="48920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700"/>
              </a:spcAft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Partial, asymmetric knowledge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— each delegate holds facts the others lack</a:t>
            </a:r>
          </a:p>
          <a:p>
            <a:pPr algn="l" marL="182880" indent="-182880">
              <a:spcAft>
                <a:spcPts val="700"/>
              </a:spcAft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Multi-turn dialogue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transports facts and aligns beliefs — relayed verbatim</a:t>
            </a:r>
          </a:p>
          <a:p>
            <a:pPr algn="l" marL="182880" indent="-182880"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Output: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one jointly revised spec / plan + the deliberation record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1143000"/>
            <a:ext cx="5486400" cy="5349240"/>
          </a:xfrm>
          <a:prstGeom prst="roundRect">
            <a:avLst>
              <a:gd name="adj" fmla="val 5000"/>
            </a:avLst>
          </a:prstGeom>
          <a:solidFill>
            <a:srgbClr val="F8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3716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990011"/>
                </a:solidFill>
                <a:latin typeface="Cambria"/>
              </a:rPr>
              <a:t>Adversarial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783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D6B7A"/>
                </a:solidFill>
                <a:latin typeface="Calibri"/>
              </a:rPr>
              <a:t>break one artifact independently</a:t>
            </a:r>
          </a:p>
        </p:txBody>
      </p:sp>
      <p:sp>
        <p:nvSpPr>
          <p:cNvPr id="19" name="Oval 18"/>
          <p:cNvSpPr/>
          <p:nvPr/>
        </p:nvSpPr>
        <p:spPr>
          <a:xfrm>
            <a:off x="7744967" y="2395728"/>
            <a:ext cx="420624" cy="420624"/>
          </a:xfrm>
          <a:prstGeom prst="ellipse">
            <a:avLst/>
          </a:prstGeom>
          <a:solidFill>
            <a:srgbClr val="99001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13648" y="2395728"/>
            <a:ext cx="420624" cy="420624"/>
          </a:xfrm>
          <a:prstGeom prst="ellipse">
            <a:avLst/>
          </a:prstGeom>
          <a:solidFill>
            <a:srgbClr val="99001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82328" y="2395728"/>
            <a:ext cx="420624" cy="420624"/>
          </a:xfrm>
          <a:prstGeom prst="ellipse">
            <a:avLst/>
          </a:prstGeom>
          <a:solidFill>
            <a:srgbClr val="99001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92440" y="3200400"/>
            <a:ext cx="146304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txBody>
          <a:bodyPr rtlCol="0" anchor="ctr" wrap="square" lIns="109728" rIns="109728"/>
          <a:lstStyle/>
          <a:p>
            <a:pPr algn="ctr"/>
            <a:r>
              <a:rPr sz="1100" b="1" i="0">
                <a:solidFill>
                  <a:srgbClr val="990011"/>
                </a:solidFill>
                <a:latin typeface="Calibri"/>
              </a:rPr>
              <a:t>2-of-3 VOTE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55279" y="2834640"/>
            <a:ext cx="594361" cy="347472"/>
          </a:xfrm>
          <a:prstGeom prst="line">
            <a:avLst/>
          </a:prstGeom>
          <a:ln w="19050">
            <a:solidFill>
              <a:srgbClr val="9900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23960" y="2834640"/>
            <a:ext cx="0" cy="347472"/>
          </a:xfrm>
          <a:prstGeom prst="line">
            <a:avLst/>
          </a:prstGeom>
          <a:ln w="19050">
            <a:solidFill>
              <a:srgbClr val="9900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098280" y="2834640"/>
            <a:ext cx="594360" cy="347472"/>
          </a:xfrm>
          <a:prstGeom prst="line">
            <a:avLst/>
          </a:prstGeom>
          <a:ln w="19050">
            <a:solidFill>
              <a:srgbClr val="9900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73952" y="376732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D6B7A"/>
                </a:solidFill>
                <a:latin typeface="Calibri"/>
              </a:rPr>
              <a:t>skeptics never see each other’s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251960"/>
            <a:ext cx="48920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700"/>
              </a:spcAft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Identical, complete context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— every skeptic sees the whole artifact</a:t>
            </a:r>
          </a:p>
          <a:p>
            <a:pPr algn="l" marL="182880" indent="-182880">
              <a:spcAft>
                <a:spcPts val="700"/>
              </a:spcAft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Independent one-shot attacks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with a default-to-reject posture</a:t>
            </a:r>
          </a:p>
          <a:p>
            <a:pPr algn="l" marL="182880" indent="-182880"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Output: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findings confirmed by majority vote, each with a concrete fix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mbria"/>
              </a:rPr>
              <a:t>Head-to-head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91672" cy="51114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47672"/>
                <a:gridCol w="4572000"/>
                <a:gridCol w="45720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Deliberative collaboration</a:t>
                      </a:r>
                    </a:p>
                  </a:txBody>
                  <a:tcPr anchor="ctr" marL="128016" marR="91440" marT="36576" marB="36576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Adversarial review</a:t>
                      </a:r>
                    </a:p>
                  </a:txBody>
                  <a:tcPr anchor="ctr" marL="128016" marR="91440" marT="36576" marB="36576">
                    <a:solidFill>
                      <a:srgbClr val="99001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 anchor="ctr" marL="128016" marR="91440" marT="36576" marB="36576">
                    <a:solidFill>
                      <a:srgbClr val="E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Converge — one joint decision that maximizes a shared reward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Diverge — find every defect in a fixed artifact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Calibri"/>
                        </a:rPr>
                        <a:t>Information</a:t>
                      </a:r>
                    </a:p>
                  </a:txBody>
                  <a:tcPr anchor="ctr" marL="128016" marR="91440" marT="36576" marB="36576">
                    <a:solidFill>
                      <a:srgbClr val="E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Partial &amp; asymmetric; dialogue exists to transport it</a:t>
                      </a:r>
                    </a:p>
                  </a:txBody>
                  <a:tcPr anchor="ctr" marL="128016" marR="91440" marT="36576" marB="36576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Complete &amp; identical; there is nothing to exchange</a:t>
                      </a:r>
                    </a:p>
                  </a:txBody>
                  <a:tcPr anchor="ctr" marL="128016" marR="91440" marT="36576" marB="36576">
                    <a:solidFill>
                      <a:srgbClr val="F2F5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Calibri"/>
                        </a:rPr>
                        <a:t>Communication</a:t>
                      </a:r>
                    </a:p>
                  </a:txBody>
                  <a:tcPr anchor="ctr" marL="128016" marR="91440" marT="36576" marB="36576">
                    <a:solidFill>
                      <a:srgbClr val="E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The mechanism: multi-turn, sequential, verbatim relay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Forbidden: shared context collapses the vote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Calibri"/>
                        </a:rPr>
                        <a:t>Agent stance</a:t>
                      </a:r>
                    </a:p>
                  </a:txBody>
                  <a:tcPr anchor="ctr" marL="128016" marR="91440" marT="36576" marB="36576">
                    <a:solidFill>
                      <a:srgbClr val="E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Cooperative peer — a delegate speaking for its territory</a:t>
                      </a:r>
                    </a:p>
                  </a:txBody>
                  <a:tcPr anchor="ctr" marL="128016" marR="91440" marT="36576" marB="36576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Hostile implementer — satisfy the letter, violate the intent</a:t>
                      </a:r>
                    </a:p>
                  </a:txBody>
                  <a:tcPr anchor="ctr" marL="128016" marR="91440" marT="36576" marB="36576">
                    <a:solidFill>
                      <a:srgbClr val="F2F5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Calibri"/>
                        </a:rPr>
                        <a:t>Aggregation</a:t>
                      </a:r>
                    </a:p>
                  </a:txBody>
                  <a:tcPr anchor="ctr" marL="128016" marR="91440" marT="36576" marB="36576">
                    <a:solidFill>
                      <a:srgbClr val="E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Consensus: all accept the same versioned proposal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Statistics: dedup by stable id, 2-of-3 majority gate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Calibri"/>
                        </a:rPr>
                        <a:t>Error control</a:t>
                      </a:r>
                    </a:p>
                  </a:txBody>
                  <a:tcPr anchor="ctr" marL="128016" marR="91440" marT="36576" marB="36576">
                    <a:solidFill>
                      <a:srgbClr val="E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Reflection — a partner’s cited challenge</a:t>
                      </a:r>
                    </a:p>
                  </a:txBody>
                  <a:tcPr anchor="ctr" marL="128016" marR="91440" marT="36576" marB="36576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Independence — uncorrelated votes filter noise</a:t>
                      </a:r>
                    </a:p>
                  </a:txBody>
                  <a:tcPr anchor="ctr" marL="128016" marR="91440" marT="36576" marB="36576">
                    <a:solidFill>
                      <a:srgbClr val="F2F5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anchor="ctr" marL="128016" marR="91440" marT="36576" marB="36576">
                    <a:solidFill>
                      <a:srgbClr val="E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One revised artifact + deliberation record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Findings report: confirmed fixes + unconfirmed tail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mbria"/>
              </a:rPr>
              <a:t>Why each works — and where it breaks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5486400" cy="5349240"/>
          </a:xfrm>
          <a:prstGeom prst="roundRect">
            <a:avLst>
              <a:gd name="adj" fmla="val 5000"/>
            </a:avLst>
          </a:prstGeom>
          <a:solidFill>
            <a:srgbClr val="E7F3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28090"/>
                </a:solidFill>
                <a:latin typeface="Cambria"/>
              </a:rPr>
              <a:t>Deliberative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Calibri"/>
              </a:rPr>
              <a:t>Dialogue transports siloed facts, and a partner’s challenge triggers reflection — error correction no solo author 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700" b="1" i="0">
                <a:solidFill>
                  <a:srgbClr val="028090"/>
                </a:solidFill>
                <a:latin typeface="Cambria"/>
              </a:rPr>
              <a:t>+34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2724912"/>
            <a:ext cx="2971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D6B7A"/>
                </a:solidFill>
                <a:latin typeface="Calibri"/>
              </a:rPr>
              <a:t>reward gap by which ONE merged-context agent beat a deliberating panel (arXiv:2607.06157). If you can merge the context — don’t deliberate.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Where it breaks → the built-in 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06240"/>
            <a:ext cx="48920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Sycophantic round-1 consensus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 →  acceptance must state what it verified or what changed its mind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Facts lost in relay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 →  transcripts relayed verbatim, never paraphrased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A panel of clones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 →  asymmetry test: name a fact only each delegate knows — or revise centrally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43000"/>
            <a:ext cx="5486400" cy="5349240"/>
          </a:xfrm>
          <a:prstGeom prst="roundRect">
            <a:avLst>
              <a:gd name="adj" fmla="val 5000"/>
            </a:avLst>
          </a:prstGeom>
          <a:solidFill>
            <a:srgbClr val="F8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716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990011"/>
                </a:solidFill>
                <a:latin typeface="Cambria"/>
              </a:rPr>
              <a:t>Adversarial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28800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Calibri"/>
              </a:rPr>
              <a:t>Attack framing (“break it, don’t evaluate it”) maximizes recall; independence plus the quorum vote restores precision.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7432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700" b="1" i="0">
                <a:solidFill>
                  <a:srgbClr val="990011"/>
                </a:solidFill>
                <a:latin typeface="Cambria"/>
              </a:rPr>
              <a:t>2-of-3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724912"/>
            <a:ext cx="2971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D6B7A"/>
                </a:solidFill>
                <a:latin typeface="Calibri"/>
              </a:rPr>
              <a:t>the majority gate that filters noise — tunable to any-one for high-stakes work, unanimous when re-work is costly.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8404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Where it breaks → the built-in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4206240"/>
            <a:ext cx="48920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990011"/>
                </a:solidFill>
                <a:latin typeface="Calibri"/>
              </a:rPr>
              <a:t>Correlated errors across skeptics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 →  use different models per skeptic to decorrelate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990011"/>
                </a:solidFill>
                <a:latin typeface="Calibri"/>
              </a:rPr>
              <a:t>Real 1-vote findings lost at the gate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 →  surface the unconfirmed tail, never drop it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990011"/>
                </a:solidFill>
                <a:latin typeface="Calibri"/>
              </a:rPr>
              <a:t>Severity inflation under attack framing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 →  vote spread is signal — calibrate, don’t just count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mbria"/>
              </a:rPr>
              <a:t>One spec, two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725912" cy="658368"/>
          </a:xfrm>
          <a:prstGeom prst="roundRect">
            <a:avLst>
              <a:gd name="adj" fmla="val 12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ctr"/>
            <a:r>
              <a:rPr sz="1350" b="0" i="1">
                <a:solidFill>
                  <a:srgbClr val="1F2937"/>
                </a:solidFill>
                <a:latin typeface="Calibri"/>
              </a:rPr>
              <a:t>“The export endpoint returns the user’s records as a downloadable file. Exports should be fast and handle large accounts.”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E7F3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028090"/>
                </a:solidFill>
                <a:latin typeface="Cambria"/>
              </a:rPr>
              <a:t>Deliberate → decide what it should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42032"/>
            <a:ext cx="48920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Product (private):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 tax-time workflow · 95% of accounts &lt; 10k rows · users expect CSV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Engineering (private):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 30s gateway timeout · 100 MB response cap</a:t>
            </a:r>
          </a:p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Ops (private):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 row-level ACLs · audit logging mandatory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977639"/>
            <a:ext cx="4892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  <a:effectLst/>
        </p:spPr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Converged v3, two rounds — the revised spec: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Calibri"/>
              </a:rPr>
              <a:t>• sync CSV ≤ 50k rows; async job + signed URL above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Calibri"/>
              </a:rPr>
              <a:t>• export worker runs under the requester’s ACLs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Calibri"/>
              </a:rPr>
              <a:t>• every export audit-logged</a:t>
            </a:r>
          </a:p>
          <a:p>
            <a:pPr algn="l"/>
            <a:r>
              <a:rPr sz="1050" b="0" i="1">
                <a:solidFill>
                  <a:srgbClr val="5D6B7A"/>
                </a:solidFill>
                <a:latin typeface="Calibri"/>
              </a:rPr>
              <a:t>Three silos, three facts — none held by any single 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192024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1031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990011"/>
                </a:solidFill>
                <a:latin typeface="Cambria"/>
              </a:rPr>
              <a:t>Attack → prove where it breaks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542032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990011"/>
                </a:solidFill>
                <a:latin typeface="Calibri"/>
              </a:rPr>
              <a:t>format-unspecified — 3/3 · HIGH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D6B7A"/>
                </a:solidFill>
                <a:latin typeface="Calibri"/>
              </a:rPr>
              <a:t>“downloadable file” names no format; lazy read: an empty .txt passes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990011"/>
                </a:solidFill>
                <a:latin typeface="Calibri"/>
              </a:rPr>
              <a:t>no-size-limit — 3/3 · HIGH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D6B7A"/>
                </a:solidFill>
                <a:latin typeface="Calibri"/>
              </a:rPr>
              <a:t>no bound on rows; stream 10M and OOM the server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990011"/>
                </a:solidFill>
                <a:latin typeface="Calibri"/>
              </a:rPr>
              <a:t>fast-untestable — 2/3 · HIGH</a:t>
            </a:r>
          </a:p>
          <a:p>
            <a:pPr algn="l"/>
            <a:r>
              <a:rPr sz="1100" b="0" i="0">
                <a:solidFill>
                  <a:srgbClr val="5D6B7A"/>
                </a:solidFill>
                <a:latin typeface="Calibri"/>
              </a:rPr>
              <a:t>“fast” has no measurable threshold — cannot be 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3952" y="4572000"/>
            <a:ext cx="48920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90011"/>
            </a:solidFill>
          </a:ln>
          <a:effectLst/>
        </p:spPr>
        <p:txBody>
          <a:bodyPr rtlCol="0" anchor="ctr" wrap="square" lIns="109728" rIns="109728"/>
          <a:lstStyle/>
          <a:p>
            <a:pPr algn="l"/>
            <a:r>
              <a:rPr sz="1150" b="1" i="0">
                <a:solidFill>
                  <a:srgbClr val="990011"/>
                </a:solidFill>
                <a:latin typeface="Calibri"/>
              </a:rPr>
              <a:t>Unconfirmed (1/3): 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auth-on-export — surfaced for the author, never silently dropped.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557784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5D6B7A"/>
                </a:solidFill>
                <a:latin typeface="Calibri"/>
              </a:rPr>
              <a:t>Confirmed tightenings get folded back into the spec.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1">
                <a:solidFill>
                  <a:srgbClr val="1F2937"/>
                </a:solidFill>
                <a:latin typeface="Calibri"/>
              </a:rPr>
              <a:t>Deliberation decided what the spec should say; the adversarial panel proved where it still broke. Run both.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Use them in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2148840" cy="1600200"/>
          </a:xfrm>
          <a:prstGeom prst="roundRect">
            <a:avLst>
              <a:gd name="adj" fmla="val 8000"/>
            </a:avLst>
          </a:prstGeom>
          <a:solidFill>
            <a:srgbClr val="2E3B4A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 · DRAFT</a:t>
            </a:r>
          </a:p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CADCFC"/>
                </a:solidFill>
                <a:latin typeface="Calibri"/>
              </a:rPr>
              <a:t>product-owner · architect</a:t>
            </a:r>
          </a:p>
          <a:p>
            <a:pPr algn="ctr"/>
            <a:r>
              <a:rPr sz="1050" b="0" i="0">
                <a:solidFill>
                  <a:srgbClr val="CADCFC"/>
                </a:solidFill>
                <a:latin typeface="Calibri"/>
              </a:rPr>
              <a:t>spec.md · plan.md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554480"/>
            <a:ext cx="2148840" cy="16002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 · DELIBERATE</a:t>
            </a:r>
          </a:p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CADCFC"/>
                </a:solidFill>
                <a:latin typeface="Calibri"/>
              </a:rPr>
              <a:t>spec- / plan-deliberator</a:t>
            </a:r>
          </a:p>
          <a:p>
            <a:pPr algn="ctr"/>
            <a:r>
              <a:rPr sz="1050" b="0" i="0">
                <a:solidFill>
                  <a:srgbClr val="CADCFC"/>
                </a:solidFill>
                <a:latin typeface="Calibri"/>
              </a:rPr>
              <a:t>disjoint knowledge → enrich, decide trade-offs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554480"/>
            <a:ext cx="2148840" cy="1600200"/>
          </a:xfrm>
          <a:prstGeom prst="roundRect">
            <a:avLst>
              <a:gd name="adj" fmla="val 8000"/>
            </a:avLst>
          </a:prstGeom>
          <a:solidFill>
            <a:srgbClr val="990011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 · VALIDATE</a:t>
            </a:r>
          </a:p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CADCFC"/>
                </a:solidFill>
                <a:latin typeface="Calibri"/>
              </a:rPr>
              <a:t>spec- / plan-validator</a:t>
            </a:r>
          </a:p>
          <a:p>
            <a:pPr algn="ctr"/>
            <a:r>
              <a:rPr sz="1050" b="0" i="0">
                <a:solidFill>
                  <a:srgbClr val="CADCFC"/>
                </a:solidFill>
                <a:latin typeface="Calibri"/>
              </a:rPr>
              <a:t>3 skeptics, no talk → 2-of-3 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554480"/>
            <a:ext cx="2148840" cy="1600200"/>
          </a:xfrm>
          <a:prstGeom prst="roundRect">
            <a:avLst>
              <a:gd name="adj" fmla="val 8000"/>
            </a:avLst>
          </a:prstGeom>
          <a:solidFill>
            <a:srgbClr val="2E3B4A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 · SHIP</a:t>
            </a:r>
          </a:p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CADCFC"/>
                </a:solidFill>
                <a:latin typeface="Calibri"/>
              </a:rPr>
              <a:t>human gate → execute</a:t>
            </a:r>
          </a:p>
          <a:p>
            <a:pPr algn="ctr"/>
            <a:r>
              <a:rPr sz="1050" b="0" i="0">
                <a:solidFill>
                  <a:srgbClr val="CADCFC"/>
                </a:solidFill>
                <a:latin typeface="Calibri"/>
              </a:rPr>
              <a:t>records on file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354580"/>
            <a:ext cx="594360" cy="0"/>
          </a:xfrm>
          <a:prstGeom prst="line">
            <a:avLst/>
          </a:prstGeom>
          <a:ln w="28575">
            <a:solidFill>
              <a:srgbClr val="CADC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806440" y="2354580"/>
            <a:ext cx="594360" cy="0"/>
          </a:xfrm>
          <a:prstGeom prst="line">
            <a:avLst/>
          </a:prstGeom>
          <a:ln w="28575">
            <a:solidFill>
              <a:srgbClr val="CADC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2354580"/>
            <a:ext cx="594360" cy="0"/>
          </a:xfrm>
          <a:prstGeom prst="line">
            <a:avLst/>
          </a:prstGeom>
          <a:ln w="28575">
            <a:solidFill>
              <a:srgbClr val="CADC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520440"/>
            <a:ext cx="107259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1">
                <a:solidFill>
                  <a:srgbClr val="CADCFC"/>
                </a:solidFill>
                <a:latin typeface="Calibri"/>
              </a:rPr>
              <a:t>The hybrid: a 2-delegate mini-panel deliberates the validator’s unconfirmed 1-vote tail — dialogue exactly where independent judgment ran 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7259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Deliberation builds. Adversarial review breaks.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5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02C39A"/>
                </a:solidFill>
                <a:latin typeface="Calibri"/>
              </a:rPr>
              <a:t>Build first — then try to break what you built.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C9DB5"/>
                </a:solidFill>
                <a:latin typeface="Calibri"/>
              </a:rPr>
              <a:t>arXiv:2607.06157 · plan plugin: spec/plan-deliberator · spec/plan-validator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